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Apresenta a sessão e o objetivo: sair daqui produzindo feedback que o aluno usa.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Provoca a experiência do professor: feedback pós-nota raramente muda algo.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Ambas têm lugar; a formativa é a que muda o ensino em tempo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aluno não sabe o que fazer com um número; sabe o que fazer com uma instrução.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Feed up, feed back, feed forward (Hattie &amp; Timperley, 2007).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avaliação formativa é um laço de regulação, não um evento único.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Atividade de 5 min; comparar em duplas.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Retoma o objetivo; foco e tempestividade vencem volume.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80990" y="380990"/>
            <a:ext cx="2000199" cy="1047723"/>
          </a:xfrm>
          <a:prstGeom prst="roundRect">
            <a:avLst/>
          </a:prstGeom>
          <a:solidFill>
            <a:srgbClr val="8C9A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5333866"/>
            <a:ext cx="3428914" cy="1523961"/>
          </a:xfrm>
          <a:prstGeom prst="roundRect">
            <a:avLst/>
          </a:prstGeom>
          <a:solidFill>
            <a:srgbClr val="2C4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2971" y="2190695"/>
            <a:ext cx="9905752" cy="19049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2C459A"/>
                </a:solidFill>
                <a:latin typeface="Open Sans"/>
              </a:rPr>
              <a:t>Avaliação formativa: o feedback que faz aprender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2971" y="4333766"/>
            <a:ext cx="9905752" cy="47623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5A5A"/>
                </a:solidFill>
                <a:latin typeface="Open Sans"/>
              </a:rPr>
              <a:t>Formação docente Cefor   ·   objetivo: produzir feedback que o aluno usa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67333" y="6400639"/>
            <a:ext cx="5143371" cy="28574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>
                <a:solidFill>
                  <a:srgbClr val="8C9A0D"/>
                </a:solidFill>
                <a:latin typeface="Open Sans"/>
              </a:rPr>
              <a:t>cefor.ifes.edu.br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0990" y="876278"/>
            <a:ext cx="11429714" cy="5295767"/>
          </a:xfrm>
          <a:prstGeom prst="rect">
            <a:avLst/>
          </a:prstGeom>
          <a:solidFill>
            <a:srgbClr val="EAE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80990" y="380990"/>
            <a:ext cx="2000199" cy="1047723"/>
          </a:xfrm>
          <a:prstGeom prst="roundRect">
            <a:avLst/>
          </a:prstGeom>
          <a:solidFill>
            <a:srgbClr val="8C9A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565" y="1428714"/>
            <a:ext cx="28574" cy="4629034"/>
          </a:xfrm>
          <a:prstGeom prst="rect">
            <a:avLst/>
          </a:prstGeom>
          <a:solidFill>
            <a:srgbClr val="8C9A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0" y="6191095"/>
            <a:ext cx="2381190" cy="666733"/>
          </a:xfrm>
          <a:prstGeom prst="roundRect">
            <a:avLst/>
          </a:prstGeom>
          <a:solidFill>
            <a:srgbClr val="2C4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67333" y="6562560"/>
            <a:ext cx="3047923" cy="19049"/>
          </a:xfrm>
          <a:prstGeom prst="rect">
            <a:avLst/>
          </a:prstGeom>
          <a:solidFill>
            <a:srgbClr val="8C9A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10504" y="6400639"/>
            <a:ext cx="2000199" cy="28574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>
                <a:solidFill>
                  <a:srgbClr val="8C9A0D"/>
                </a:solidFill>
                <a:latin typeface="Open Sans"/>
              </a:rPr>
              <a:t>cefor.ifes.edu.br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62180" y="1047723"/>
            <a:ext cx="8667533" cy="12382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2C459A"/>
                </a:solidFill>
                <a:latin typeface="Open Sans"/>
              </a:rPr>
              <a:t>Quando seu feedback chega, ainda dá tempo de mudar a rota?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57428" y="3428914"/>
            <a:ext cx="2381190" cy="1047723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28874" y="3543211"/>
            <a:ext cx="2038299" cy="47623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C459A"/>
                </a:solidFill>
                <a:latin typeface="Open Sans"/>
              </a:rPr>
              <a:t>Aula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352916" y="3809904"/>
            <a:ext cx="438139" cy="190495"/>
          </a:xfrm>
          <a:prstGeom prst="rightArrow">
            <a:avLst/>
          </a:prstGeom>
          <a:solidFill>
            <a:srgbClr val="8C9A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05352" y="3428914"/>
            <a:ext cx="2381190" cy="1047723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76798" y="3543211"/>
            <a:ext cx="2038299" cy="47623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C459A"/>
                </a:solidFill>
                <a:latin typeface="Open Sans"/>
              </a:rPr>
              <a:t>Entrega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400839" y="3809904"/>
            <a:ext cx="438139" cy="190495"/>
          </a:xfrm>
          <a:prstGeom prst="rightArrow">
            <a:avLst/>
          </a:prstGeom>
          <a:solidFill>
            <a:srgbClr val="8C9A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953276" y="3428914"/>
            <a:ext cx="2381190" cy="1047723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CC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24721" y="3543211"/>
            <a:ext cx="2038299" cy="47623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CC1111"/>
                </a:solidFill>
                <a:latin typeface="Open Sans"/>
              </a:rPr>
              <a:t>Nota (tarde)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0990" y="876278"/>
            <a:ext cx="11429714" cy="5295767"/>
          </a:xfrm>
          <a:prstGeom prst="rect">
            <a:avLst/>
          </a:prstGeom>
          <a:solidFill>
            <a:srgbClr val="EAE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80990" y="380990"/>
            <a:ext cx="2000199" cy="1047723"/>
          </a:xfrm>
          <a:prstGeom prst="roundRect">
            <a:avLst/>
          </a:prstGeom>
          <a:solidFill>
            <a:srgbClr val="8C9A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565" y="1428714"/>
            <a:ext cx="28574" cy="4629034"/>
          </a:xfrm>
          <a:prstGeom prst="rect">
            <a:avLst/>
          </a:prstGeom>
          <a:solidFill>
            <a:srgbClr val="8C9A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0" y="6191095"/>
            <a:ext cx="2381190" cy="666733"/>
          </a:xfrm>
          <a:prstGeom prst="roundRect">
            <a:avLst/>
          </a:prstGeom>
          <a:solidFill>
            <a:srgbClr val="2C4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67333" y="6562560"/>
            <a:ext cx="3047923" cy="19049"/>
          </a:xfrm>
          <a:prstGeom prst="rect">
            <a:avLst/>
          </a:prstGeom>
          <a:solidFill>
            <a:srgbClr val="8C9A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10504" y="6400639"/>
            <a:ext cx="2000199" cy="28574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>
                <a:solidFill>
                  <a:srgbClr val="8C9A0D"/>
                </a:solidFill>
                <a:latin typeface="Open Sans"/>
              </a:rPr>
              <a:t>cefor.ifes.edu.br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62180" y="1047723"/>
            <a:ext cx="8667533" cy="12382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2C459A"/>
                </a:solidFill>
                <a:latin typeface="Open Sans"/>
              </a:rPr>
              <a:t>A formativa acontece durante o percurso; a somativa, no fim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57428" y="2762180"/>
            <a:ext cx="3905152" cy="2190695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28874" y="2876478"/>
            <a:ext cx="3562260" cy="47623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C459A"/>
                </a:solidFill>
                <a:latin typeface="Open Sans"/>
              </a:rPr>
              <a:t>Formativa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28874" y="3257468"/>
            <a:ext cx="3562260" cy="161920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Open Sans"/>
              </a:rPr>
              <a:t>Ajusta o ensino durante o percurso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34066" y="2762180"/>
            <a:ext cx="3905152" cy="2190695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05512" y="2876478"/>
            <a:ext cx="3562260" cy="47623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CC1111"/>
                </a:solidFill>
                <a:latin typeface="Open Sans"/>
              </a:rPr>
              <a:t>Somativa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05512" y="3257468"/>
            <a:ext cx="3562260" cy="161920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Open Sans"/>
              </a:rPr>
              <a:t>Certifica o resultado ao final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2580" y="3667033"/>
            <a:ext cx="571485" cy="47623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5A5A5A"/>
                </a:solidFill>
                <a:latin typeface="Open Sans"/>
              </a:rPr>
              <a:t>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0990" y="876278"/>
            <a:ext cx="11429714" cy="5295767"/>
          </a:xfrm>
          <a:prstGeom prst="rect">
            <a:avLst/>
          </a:prstGeom>
          <a:solidFill>
            <a:srgbClr val="EAE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80990" y="380990"/>
            <a:ext cx="2000199" cy="1047723"/>
          </a:xfrm>
          <a:prstGeom prst="roundRect">
            <a:avLst/>
          </a:prstGeom>
          <a:solidFill>
            <a:srgbClr val="8C9A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565" y="1428714"/>
            <a:ext cx="28574" cy="4629034"/>
          </a:xfrm>
          <a:prstGeom prst="rect">
            <a:avLst/>
          </a:prstGeom>
          <a:solidFill>
            <a:srgbClr val="8C9A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0" y="6191095"/>
            <a:ext cx="2381190" cy="666733"/>
          </a:xfrm>
          <a:prstGeom prst="roundRect">
            <a:avLst/>
          </a:prstGeom>
          <a:solidFill>
            <a:srgbClr val="2C4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67333" y="6562560"/>
            <a:ext cx="3047923" cy="19049"/>
          </a:xfrm>
          <a:prstGeom prst="rect">
            <a:avLst/>
          </a:prstGeom>
          <a:solidFill>
            <a:srgbClr val="8C9A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10504" y="6400639"/>
            <a:ext cx="2000199" cy="28574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>
                <a:solidFill>
                  <a:srgbClr val="8C9A0D"/>
                </a:solidFill>
                <a:latin typeface="Open Sans"/>
              </a:rPr>
              <a:t>cefor.ifes.edu.br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62180" y="1047723"/>
            <a:ext cx="8667533" cy="12382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2C459A"/>
                </a:solidFill>
                <a:latin typeface="Open Sans"/>
              </a:rPr>
              <a:t>Nota informa um resultado; feedback orienta o próximo passo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57428" y="2762180"/>
            <a:ext cx="3905152" cy="2190695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28874" y="2876478"/>
            <a:ext cx="3562260" cy="47623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C459A"/>
                </a:solidFill>
                <a:latin typeface="Open Sans"/>
              </a:rPr>
              <a:t>Nota: 7,0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28874" y="3257468"/>
            <a:ext cx="3562260" cy="161920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Open Sans"/>
              </a:rPr>
              <a:t>Informa um resultado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34066" y="2762180"/>
            <a:ext cx="3905152" cy="2190695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05512" y="2876478"/>
            <a:ext cx="3562260" cy="47623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CC1111"/>
                </a:solidFill>
                <a:latin typeface="Open Sans"/>
              </a:rPr>
              <a:t>Feedback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05512" y="3257468"/>
            <a:ext cx="3562260" cy="161920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Open Sans"/>
              </a:rPr>
              <a:t>Orienta o próximo passo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2580" y="3667033"/>
            <a:ext cx="571485" cy="47623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5A5A5A"/>
                </a:solidFill>
                <a:latin typeface="Open Sans"/>
              </a:rPr>
              <a:t>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0990" y="876278"/>
            <a:ext cx="11429714" cy="5295767"/>
          </a:xfrm>
          <a:prstGeom prst="rect">
            <a:avLst/>
          </a:prstGeom>
          <a:solidFill>
            <a:srgbClr val="EAE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80990" y="380990"/>
            <a:ext cx="2000199" cy="1047723"/>
          </a:xfrm>
          <a:prstGeom prst="roundRect">
            <a:avLst/>
          </a:prstGeom>
          <a:solidFill>
            <a:srgbClr val="8C9A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565" y="1428714"/>
            <a:ext cx="28574" cy="4629034"/>
          </a:xfrm>
          <a:prstGeom prst="rect">
            <a:avLst/>
          </a:prstGeom>
          <a:solidFill>
            <a:srgbClr val="8C9A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0" y="6191095"/>
            <a:ext cx="2381190" cy="666733"/>
          </a:xfrm>
          <a:prstGeom prst="roundRect">
            <a:avLst/>
          </a:prstGeom>
          <a:solidFill>
            <a:srgbClr val="2C4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67333" y="6562560"/>
            <a:ext cx="3047923" cy="19049"/>
          </a:xfrm>
          <a:prstGeom prst="rect">
            <a:avLst/>
          </a:prstGeom>
          <a:solidFill>
            <a:srgbClr val="8C9A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10504" y="6400639"/>
            <a:ext cx="2000199" cy="28574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>
                <a:solidFill>
                  <a:srgbClr val="8C9A0D"/>
                </a:solidFill>
                <a:latin typeface="Open Sans"/>
              </a:rPr>
              <a:t>cefor.ifes.edu.br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62180" y="1047723"/>
            <a:ext cx="8667533" cy="12382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2C459A"/>
                </a:solidFill>
                <a:latin typeface="Open Sans"/>
              </a:rPr>
              <a:t>Bom feedback responde a três perguntas</a:t>
            </a:r>
          </a:p>
        </p:txBody>
      </p:sp>
      <p:sp>
        <p:nvSpPr>
          <p:cNvPr id="9" name="Oval 8"/>
          <p:cNvSpPr/>
          <p:nvPr/>
        </p:nvSpPr>
        <p:spPr>
          <a:xfrm>
            <a:off x="2857428" y="2762180"/>
            <a:ext cx="419089" cy="419089"/>
          </a:xfrm>
          <a:prstGeom prst="ellipse">
            <a:avLst/>
          </a:prstGeom>
          <a:solidFill>
            <a:srgbClr val="8C9A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57428" y="2819329"/>
            <a:ext cx="419089" cy="3428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Open Sans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57428" y="3333666"/>
            <a:ext cx="2571685" cy="142871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28874" y="3447963"/>
            <a:ext cx="2228794" cy="47623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C459A"/>
                </a:solidFill>
                <a:latin typeface="Open Sans"/>
              </a:rPr>
              <a:t>Onde vou?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28874" y="3828954"/>
            <a:ext cx="2228794" cy="8572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Open Sans"/>
              </a:rPr>
              <a:t>meta — feed up</a:t>
            </a:r>
          </a:p>
        </p:txBody>
      </p:sp>
      <p:sp>
        <p:nvSpPr>
          <p:cNvPr id="14" name="Oval 13"/>
          <p:cNvSpPr/>
          <p:nvPr/>
        </p:nvSpPr>
        <p:spPr>
          <a:xfrm>
            <a:off x="5762480" y="2762180"/>
            <a:ext cx="419089" cy="419089"/>
          </a:xfrm>
          <a:prstGeom prst="ellipse">
            <a:avLst/>
          </a:prstGeom>
          <a:solidFill>
            <a:srgbClr val="8C9A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2480" y="2819329"/>
            <a:ext cx="419089" cy="3428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Open Sans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62480" y="3333666"/>
            <a:ext cx="2571685" cy="142871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33926" y="3447963"/>
            <a:ext cx="2228794" cy="47623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C459A"/>
                </a:solidFill>
                <a:latin typeface="Open Sans"/>
              </a:rPr>
              <a:t>Como estou indo?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33926" y="3828954"/>
            <a:ext cx="2228794" cy="8572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Open Sans"/>
              </a:rPr>
              <a:t>situação — feed back</a:t>
            </a:r>
          </a:p>
        </p:txBody>
      </p:sp>
      <p:sp>
        <p:nvSpPr>
          <p:cNvPr id="19" name="Oval 18"/>
          <p:cNvSpPr/>
          <p:nvPr/>
        </p:nvSpPr>
        <p:spPr>
          <a:xfrm>
            <a:off x="8667533" y="2762180"/>
            <a:ext cx="419089" cy="419089"/>
          </a:xfrm>
          <a:prstGeom prst="ellipse">
            <a:avLst/>
          </a:prstGeom>
          <a:solidFill>
            <a:srgbClr val="8C9A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67533" y="2819329"/>
            <a:ext cx="419089" cy="3428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Open Sans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67533" y="3333666"/>
            <a:ext cx="2571685" cy="142871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38979" y="3447963"/>
            <a:ext cx="2228794" cy="47623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C459A"/>
                </a:solidFill>
                <a:latin typeface="Open Sans"/>
              </a:rPr>
              <a:t>E agora?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38979" y="3828954"/>
            <a:ext cx="2228794" cy="8572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Open Sans"/>
              </a:rPr>
              <a:t>próximo passo — feed forward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0990" y="876278"/>
            <a:ext cx="11429714" cy="5295767"/>
          </a:xfrm>
          <a:prstGeom prst="rect">
            <a:avLst/>
          </a:prstGeom>
          <a:solidFill>
            <a:srgbClr val="EAE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80990" y="380990"/>
            <a:ext cx="2000199" cy="1047723"/>
          </a:xfrm>
          <a:prstGeom prst="roundRect">
            <a:avLst/>
          </a:prstGeom>
          <a:solidFill>
            <a:srgbClr val="8C9A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565" y="1428714"/>
            <a:ext cx="28574" cy="4629034"/>
          </a:xfrm>
          <a:prstGeom prst="rect">
            <a:avLst/>
          </a:prstGeom>
          <a:solidFill>
            <a:srgbClr val="8C9A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0" y="6191095"/>
            <a:ext cx="2381190" cy="666733"/>
          </a:xfrm>
          <a:prstGeom prst="roundRect">
            <a:avLst/>
          </a:prstGeom>
          <a:solidFill>
            <a:srgbClr val="2C4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67333" y="6562560"/>
            <a:ext cx="3047923" cy="19049"/>
          </a:xfrm>
          <a:prstGeom prst="rect">
            <a:avLst/>
          </a:prstGeom>
          <a:solidFill>
            <a:srgbClr val="8C9A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10504" y="6400639"/>
            <a:ext cx="2000199" cy="28574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>
                <a:solidFill>
                  <a:srgbClr val="8C9A0D"/>
                </a:solidFill>
                <a:latin typeface="Open Sans"/>
              </a:rPr>
              <a:t>cefor.ifes.edu.br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62180" y="1047723"/>
            <a:ext cx="8667533" cy="12382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2C459A"/>
                </a:solidFill>
                <a:latin typeface="Open Sans"/>
              </a:rPr>
              <a:t>Feedback fecha a distância entre onde o aluno está e a meta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57428" y="3619409"/>
            <a:ext cx="1904952" cy="9048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28874" y="3733706"/>
            <a:ext cx="1562060" cy="47623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C459A"/>
                </a:solidFill>
                <a:latin typeface="Open Sans"/>
              </a:rPr>
              <a:t>Evidência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19529" y="3933726"/>
            <a:ext cx="200019" cy="190495"/>
          </a:xfrm>
          <a:prstGeom prst="rightArrow">
            <a:avLst/>
          </a:prstGeom>
          <a:solidFill>
            <a:srgbClr val="8C9A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076698" y="3619409"/>
            <a:ext cx="1904952" cy="9048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48143" y="3733706"/>
            <a:ext cx="1562060" cy="47623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C459A"/>
                </a:solidFill>
                <a:latin typeface="Open Sans"/>
              </a:rPr>
              <a:t>Interpretação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038799" y="3933726"/>
            <a:ext cx="200019" cy="190495"/>
          </a:xfrm>
          <a:prstGeom prst="rightArrow">
            <a:avLst/>
          </a:prstGeom>
          <a:solidFill>
            <a:srgbClr val="8C9A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295967" y="3619409"/>
            <a:ext cx="1904952" cy="9048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67413" y="3733706"/>
            <a:ext cx="1562060" cy="47623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C459A"/>
                </a:solidFill>
                <a:latin typeface="Open Sans"/>
              </a:rPr>
              <a:t>Ação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258068" y="3933726"/>
            <a:ext cx="200019" cy="190495"/>
          </a:xfrm>
          <a:prstGeom prst="rightArrow">
            <a:avLst/>
          </a:prstGeom>
          <a:solidFill>
            <a:srgbClr val="8C9A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515237" y="3619409"/>
            <a:ext cx="1904952" cy="9048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86682" y="3733706"/>
            <a:ext cx="1562060" cy="47623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C459A"/>
                </a:solidFill>
                <a:latin typeface="Open Sans"/>
              </a:rPr>
              <a:t>Nova evidência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0990" y="876278"/>
            <a:ext cx="11429714" cy="5295767"/>
          </a:xfrm>
          <a:prstGeom prst="rect">
            <a:avLst/>
          </a:prstGeom>
          <a:solidFill>
            <a:srgbClr val="EAE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80990" y="380990"/>
            <a:ext cx="2000199" cy="1047723"/>
          </a:xfrm>
          <a:prstGeom prst="roundRect">
            <a:avLst/>
          </a:prstGeom>
          <a:solidFill>
            <a:srgbClr val="8C9A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565" y="1428714"/>
            <a:ext cx="28574" cy="4629034"/>
          </a:xfrm>
          <a:prstGeom prst="rect">
            <a:avLst/>
          </a:prstGeom>
          <a:solidFill>
            <a:srgbClr val="8C9A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0" y="6191095"/>
            <a:ext cx="2381190" cy="666733"/>
          </a:xfrm>
          <a:prstGeom prst="roundRect">
            <a:avLst/>
          </a:prstGeom>
          <a:solidFill>
            <a:srgbClr val="2C4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67333" y="6562560"/>
            <a:ext cx="3047923" cy="19049"/>
          </a:xfrm>
          <a:prstGeom prst="rect">
            <a:avLst/>
          </a:prstGeom>
          <a:solidFill>
            <a:srgbClr val="8C9A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10504" y="6400639"/>
            <a:ext cx="2000199" cy="28574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>
                <a:solidFill>
                  <a:srgbClr val="8C9A0D"/>
                </a:solidFill>
                <a:latin typeface="Open Sans"/>
              </a:rPr>
              <a:t>cefor.ifes.edu.br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62180" y="1047723"/>
            <a:ext cx="8667533" cy="12382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2C459A"/>
                </a:solidFill>
                <a:latin typeface="Open Sans"/>
              </a:rPr>
              <a:t>Sua vez: transforme uma nota em feedback acionável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57428" y="2762180"/>
            <a:ext cx="8381790" cy="1904952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CC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28874" y="2876478"/>
            <a:ext cx="8038899" cy="47623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CC1111"/>
                </a:solidFill>
                <a:latin typeface="Open Sans"/>
              </a:rPr>
              <a:t>Tarefa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28874" y="3257468"/>
            <a:ext cx="8038899" cy="133346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Open Sans"/>
              </a:rPr>
              <a:t>Pegue um '7,0' e reescreva usando as 3 perguntas. 5 min, em duplas.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0990" y="876278"/>
            <a:ext cx="11429714" cy="5295767"/>
          </a:xfrm>
          <a:prstGeom prst="rect">
            <a:avLst/>
          </a:prstGeom>
          <a:solidFill>
            <a:srgbClr val="EAE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80990" y="380990"/>
            <a:ext cx="2000199" cy="1047723"/>
          </a:xfrm>
          <a:prstGeom prst="roundRect">
            <a:avLst/>
          </a:prstGeom>
          <a:solidFill>
            <a:srgbClr val="8C9A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565" y="1428714"/>
            <a:ext cx="28574" cy="4629034"/>
          </a:xfrm>
          <a:prstGeom prst="rect">
            <a:avLst/>
          </a:prstGeom>
          <a:solidFill>
            <a:srgbClr val="8C9A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0" y="6191095"/>
            <a:ext cx="2381190" cy="666733"/>
          </a:xfrm>
          <a:prstGeom prst="roundRect">
            <a:avLst/>
          </a:prstGeom>
          <a:solidFill>
            <a:srgbClr val="2C4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67333" y="6562560"/>
            <a:ext cx="3047923" cy="19049"/>
          </a:xfrm>
          <a:prstGeom prst="rect">
            <a:avLst/>
          </a:prstGeom>
          <a:solidFill>
            <a:srgbClr val="8C9A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10504" y="6400639"/>
            <a:ext cx="2000199" cy="28574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>
                <a:solidFill>
                  <a:srgbClr val="8C9A0D"/>
                </a:solidFill>
                <a:latin typeface="Open Sans"/>
              </a:rPr>
              <a:t>cefor.ifes.edu.br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62180" y="1047723"/>
            <a:ext cx="8667533" cy="12382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2C459A"/>
                </a:solidFill>
                <a:latin typeface="Open Sans"/>
              </a:rPr>
              <a:t>Avaliar para aprender é redirecionar o ensino enquanto há tempo</a:t>
            </a:r>
          </a:p>
        </p:txBody>
      </p:sp>
      <p:sp>
        <p:nvSpPr>
          <p:cNvPr id="9" name="Oval 8"/>
          <p:cNvSpPr/>
          <p:nvPr/>
        </p:nvSpPr>
        <p:spPr>
          <a:xfrm>
            <a:off x="3895627" y="2762180"/>
            <a:ext cx="495287" cy="495287"/>
          </a:xfrm>
          <a:prstGeom prst="ellipse">
            <a:avLst/>
          </a:prstGeom>
          <a:solidFill>
            <a:srgbClr val="B0C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57428" y="3428914"/>
            <a:ext cx="2571685" cy="114297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28874" y="3543211"/>
            <a:ext cx="2228794" cy="47623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C459A"/>
                </a:solidFill>
                <a:latin typeface="Open Sans"/>
              </a:rPr>
              <a:t>Durante o percurso</a:t>
            </a:r>
          </a:p>
        </p:txBody>
      </p:sp>
      <p:sp>
        <p:nvSpPr>
          <p:cNvPr id="12" name="Oval 11"/>
          <p:cNvSpPr/>
          <p:nvPr/>
        </p:nvSpPr>
        <p:spPr>
          <a:xfrm>
            <a:off x="6800679" y="2762180"/>
            <a:ext cx="495287" cy="495287"/>
          </a:xfrm>
          <a:prstGeom prst="ellipse">
            <a:avLst/>
          </a:prstGeom>
          <a:solidFill>
            <a:srgbClr val="B0C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762480" y="3428914"/>
            <a:ext cx="2571685" cy="114297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33926" y="3543211"/>
            <a:ext cx="2228794" cy="47623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C459A"/>
                </a:solidFill>
                <a:latin typeface="Open Sans"/>
              </a:rPr>
              <a:t>Acionável</a:t>
            </a:r>
          </a:p>
        </p:txBody>
      </p:sp>
      <p:sp>
        <p:nvSpPr>
          <p:cNvPr id="15" name="Oval 14"/>
          <p:cNvSpPr/>
          <p:nvPr/>
        </p:nvSpPr>
        <p:spPr>
          <a:xfrm>
            <a:off x="9705732" y="2762180"/>
            <a:ext cx="495287" cy="495287"/>
          </a:xfrm>
          <a:prstGeom prst="ellipse">
            <a:avLst/>
          </a:prstGeom>
          <a:solidFill>
            <a:srgbClr val="B0C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667533" y="3428914"/>
            <a:ext cx="2571685" cy="114297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38979" y="3543211"/>
            <a:ext cx="2228794" cy="47623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C459A"/>
                </a:solidFill>
                <a:latin typeface="Open Sans"/>
              </a:rPr>
              <a:t>Focado e a tempo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2C4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33466" y="2857428"/>
            <a:ext cx="9524761" cy="7619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Open Sans"/>
              </a:rPr>
              <a:t>Cefor — Formação 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33466" y="3714657"/>
            <a:ext cx="9524761" cy="47623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B0CB1F"/>
                </a:solidFill>
                <a:latin typeface="Open Sans"/>
              </a:rPr>
              <a:t>cefor.ifes.edu.br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