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tBKjk6fvoUm5HDy9vCi5nSPbs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 a sessão e o objetivo: sair daqui produzindo feedback que o aluno usa.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Provoca a experiência do professor: feedback pós-nota raramente muda algo.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Ambas têm lugar; a formativa é a que muda o ensino em tempo real.</a:t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aluno não sabe o que fazer com um número; sabe o que fazer com uma instrução.</a:t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Feed up, feed back, feed forward (Hattie &amp; Timperley, 2007).</a:t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avaliação formativa é um laço de regulação, não um evento único.</a:t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Atividade de 5 min; comparar em duplas.</a:t>
            </a:r>
            <a:endParaRPr/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Retoma o objetivo; foco e tempestividade vencem volume.</a:t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380990" y="380990"/>
            <a:ext cx="2000199" cy="1047723"/>
          </a:xfrm>
          <a:prstGeom prst="roundRect">
            <a:avLst>
              <a:gd fmla="val 16667" name="adj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5333866"/>
            <a:ext cx="3428914" cy="1523961"/>
          </a:xfrm>
          <a:prstGeom prst="roundRect">
            <a:avLst>
              <a:gd fmla="val 16667" name="adj"/>
            </a:avLst>
          </a:prstGeom>
          <a:solidFill>
            <a:srgbClr val="31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42971" y="2190695"/>
            <a:ext cx="9905752" cy="1904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Avaliação formativa: o feedback que faz aprender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142971" y="4333766"/>
            <a:ext cx="9905752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Formação docente Cefor   ·   objetivo: produzir feedback que o aluno usa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667333" y="6400639"/>
            <a:ext cx="5143371" cy="28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3A51A"/>
                </a:solidFill>
                <a:latin typeface="Arial"/>
                <a:ea typeface="Arial"/>
                <a:cs typeface="Arial"/>
                <a:sym typeface="Arial"/>
              </a:rPr>
              <a:t>cefor.ifes.edu.br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380990" y="876278"/>
            <a:ext cx="11429714" cy="529576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380990" y="380990"/>
            <a:ext cx="2000199" cy="1047723"/>
          </a:xfrm>
          <a:prstGeom prst="roundRect">
            <a:avLst>
              <a:gd fmla="val 16667" name="adj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1371565" y="1428714"/>
            <a:ext cx="28574" cy="4629034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6191095"/>
            <a:ext cx="2381190" cy="666733"/>
          </a:xfrm>
          <a:prstGeom prst="roundRect">
            <a:avLst>
              <a:gd fmla="val 16667" name="adj"/>
            </a:avLst>
          </a:prstGeom>
          <a:solidFill>
            <a:srgbClr val="31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667333" y="6562560"/>
            <a:ext cx="3047923" cy="19049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9810504" y="6400639"/>
            <a:ext cx="2000199" cy="28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3A51A"/>
                </a:solidFill>
                <a:latin typeface="Arial"/>
                <a:ea typeface="Arial"/>
                <a:cs typeface="Arial"/>
                <a:sym typeface="Arial"/>
              </a:rPr>
              <a:t>cefor.ifes.edu.br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762180" y="1047723"/>
            <a:ext cx="8667533" cy="1238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Quando seu feedback chega, ainda dá tempo de mudar a rota?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2857428" y="3428914"/>
            <a:ext cx="2381190" cy="1047723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3028874" y="3543211"/>
            <a:ext cx="2038299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Aula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352916" y="3809904"/>
            <a:ext cx="438139" cy="19049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905352" y="3428914"/>
            <a:ext cx="2381190" cy="1047723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076798" y="3543211"/>
            <a:ext cx="2038299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8400839" y="3809904"/>
            <a:ext cx="438139" cy="19049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953276" y="3428914"/>
            <a:ext cx="2381190" cy="1047723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9124721" y="3543211"/>
            <a:ext cx="2038299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Nota (tarde)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380990" y="876278"/>
            <a:ext cx="11429714" cy="529576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80990" y="380990"/>
            <a:ext cx="2000199" cy="1047723"/>
          </a:xfrm>
          <a:prstGeom prst="roundRect">
            <a:avLst>
              <a:gd fmla="val 16667" name="adj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371565" y="1428714"/>
            <a:ext cx="28574" cy="4629034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6191095"/>
            <a:ext cx="2381190" cy="666733"/>
          </a:xfrm>
          <a:prstGeom prst="roundRect">
            <a:avLst>
              <a:gd fmla="val 16667" name="adj"/>
            </a:avLst>
          </a:prstGeom>
          <a:solidFill>
            <a:srgbClr val="31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667333" y="6562560"/>
            <a:ext cx="3047923" cy="19049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9810504" y="6400639"/>
            <a:ext cx="2000199" cy="28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3A51A"/>
                </a:solidFill>
                <a:latin typeface="Arial"/>
                <a:ea typeface="Arial"/>
                <a:cs typeface="Arial"/>
                <a:sym typeface="Arial"/>
              </a:rPr>
              <a:t>cefor.ifes.edu.br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2762180" y="1047723"/>
            <a:ext cx="8667533" cy="1238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A formativa acontece durante o percurso; a somativa, no fim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2857428" y="2762180"/>
            <a:ext cx="3905152" cy="219069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3028874" y="2876478"/>
            <a:ext cx="3562260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Formativa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3028874" y="3257468"/>
            <a:ext cx="3562260" cy="1619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Ajusta o ensino durante o percurso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7334066" y="2762180"/>
            <a:ext cx="3905152" cy="219069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7505512" y="2876478"/>
            <a:ext cx="3562260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Somativa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7505512" y="3257468"/>
            <a:ext cx="3562260" cy="1619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Certifica o resultado ao final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6762580" y="3667033"/>
            <a:ext cx="571485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380990" y="876278"/>
            <a:ext cx="11429714" cy="529576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80990" y="380990"/>
            <a:ext cx="2000199" cy="1047723"/>
          </a:xfrm>
          <a:prstGeom prst="roundRect">
            <a:avLst>
              <a:gd fmla="val 16667" name="adj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371565" y="1428714"/>
            <a:ext cx="28574" cy="4629034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6191095"/>
            <a:ext cx="2381190" cy="666733"/>
          </a:xfrm>
          <a:prstGeom prst="roundRect">
            <a:avLst>
              <a:gd fmla="val 16667" name="adj"/>
            </a:avLst>
          </a:prstGeom>
          <a:solidFill>
            <a:srgbClr val="31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667333" y="6562560"/>
            <a:ext cx="3047923" cy="19049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9810504" y="6400639"/>
            <a:ext cx="2000199" cy="28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3A51A"/>
                </a:solidFill>
                <a:latin typeface="Arial"/>
                <a:ea typeface="Arial"/>
                <a:cs typeface="Arial"/>
                <a:sym typeface="Arial"/>
              </a:rPr>
              <a:t>cefor.ifes.edu.br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2762180" y="1047723"/>
            <a:ext cx="8667533" cy="1238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Nota informa um resultado; feedback orienta o próximo passo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2857428" y="2762180"/>
            <a:ext cx="3905152" cy="219069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028874" y="2876478"/>
            <a:ext cx="3562260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Nota: 7,0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3028874" y="3257468"/>
            <a:ext cx="3562260" cy="1619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Informa um resultado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334066" y="2762180"/>
            <a:ext cx="3905152" cy="219069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505512" y="2876478"/>
            <a:ext cx="3562260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7505512" y="3257468"/>
            <a:ext cx="3562260" cy="1619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Orienta o próximo passo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762580" y="3667033"/>
            <a:ext cx="571485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380990" y="876278"/>
            <a:ext cx="11429714" cy="529576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80990" y="380990"/>
            <a:ext cx="2000199" cy="1047723"/>
          </a:xfrm>
          <a:prstGeom prst="roundRect">
            <a:avLst>
              <a:gd fmla="val 16667" name="adj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371565" y="1428714"/>
            <a:ext cx="28574" cy="4629034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0" y="6191095"/>
            <a:ext cx="2381190" cy="666733"/>
          </a:xfrm>
          <a:prstGeom prst="roundRect">
            <a:avLst>
              <a:gd fmla="val 16667" name="adj"/>
            </a:avLst>
          </a:prstGeom>
          <a:solidFill>
            <a:srgbClr val="31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667333" y="6562560"/>
            <a:ext cx="3047923" cy="19049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9810504" y="6400639"/>
            <a:ext cx="2000199" cy="28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3A51A"/>
                </a:solidFill>
                <a:latin typeface="Arial"/>
                <a:ea typeface="Arial"/>
                <a:cs typeface="Arial"/>
                <a:sym typeface="Arial"/>
              </a:rPr>
              <a:t>cefor.ifes.edu.br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2762180" y="1047723"/>
            <a:ext cx="8667533" cy="1238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Bom feedback responde a três perguntas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2857428" y="2762180"/>
            <a:ext cx="419089" cy="419089"/>
          </a:xfrm>
          <a:prstGeom prst="ellipse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2857428" y="2819329"/>
            <a:ext cx="419089" cy="342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2857428" y="3333666"/>
            <a:ext cx="2571685" cy="142871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3028874" y="3447963"/>
            <a:ext cx="2228794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Onde vou?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3028874" y="3828954"/>
            <a:ext cx="2228794" cy="857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meta — feed up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5762480" y="2762180"/>
            <a:ext cx="419089" cy="419089"/>
          </a:xfrm>
          <a:prstGeom prst="ellipse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5762480" y="2819329"/>
            <a:ext cx="419089" cy="342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5762480" y="3333666"/>
            <a:ext cx="2571685" cy="142871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5933926" y="3447963"/>
            <a:ext cx="2228794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Como estou indo?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5933926" y="3828954"/>
            <a:ext cx="2228794" cy="857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situação — feed back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8667533" y="2762180"/>
            <a:ext cx="419089" cy="419089"/>
          </a:xfrm>
          <a:prstGeom prst="ellipse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8667533" y="2819329"/>
            <a:ext cx="419089" cy="342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8667533" y="3333666"/>
            <a:ext cx="2571685" cy="142871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8838979" y="3447963"/>
            <a:ext cx="2228794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E agora?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8838979" y="3828954"/>
            <a:ext cx="2228794" cy="857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próximo passo — feed forward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380990" y="876278"/>
            <a:ext cx="11429714" cy="529576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80990" y="380990"/>
            <a:ext cx="2000199" cy="1047723"/>
          </a:xfrm>
          <a:prstGeom prst="roundRect">
            <a:avLst>
              <a:gd fmla="val 16667" name="adj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371565" y="1428714"/>
            <a:ext cx="28574" cy="4629034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0" y="6191095"/>
            <a:ext cx="2381190" cy="666733"/>
          </a:xfrm>
          <a:prstGeom prst="roundRect">
            <a:avLst>
              <a:gd fmla="val 16667" name="adj"/>
            </a:avLst>
          </a:prstGeom>
          <a:solidFill>
            <a:srgbClr val="31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667333" y="6562560"/>
            <a:ext cx="3047923" cy="19049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9810504" y="6400639"/>
            <a:ext cx="2000199" cy="28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3A51A"/>
                </a:solidFill>
                <a:latin typeface="Arial"/>
                <a:ea typeface="Arial"/>
                <a:cs typeface="Arial"/>
                <a:sym typeface="Arial"/>
              </a:rPr>
              <a:t>cefor.ifes.edu.br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2762180" y="1047723"/>
            <a:ext cx="8667533" cy="1238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Feedback fecha a distância entre onde o aluno está e a meta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2857428" y="3619409"/>
            <a:ext cx="1904952" cy="9048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3028874" y="3733706"/>
            <a:ext cx="1562060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Evidência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4819529" y="3933726"/>
            <a:ext cx="200019" cy="19049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076698" y="3619409"/>
            <a:ext cx="1904952" cy="9048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5248143" y="3733706"/>
            <a:ext cx="1562060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7038799" y="3933726"/>
            <a:ext cx="200019" cy="19049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7295967" y="3619409"/>
            <a:ext cx="1904952" cy="9048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7467413" y="3733706"/>
            <a:ext cx="1562060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Ação</a:t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9258068" y="3933726"/>
            <a:ext cx="200019" cy="19049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9515237" y="3619409"/>
            <a:ext cx="1904952" cy="9048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9686682" y="3733706"/>
            <a:ext cx="1562060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Nova evidência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380990" y="876278"/>
            <a:ext cx="11429714" cy="529576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80990" y="380990"/>
            <a:ext cx="2000199" cy="1047723"/>
          </a:xfrm>
          <a:prstGeom prst="roundRect">
            <a:avLst>
              <a:gd fmla="val 16667" name="adj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371565" y="1428714"/>
            <a:ext cx="28574" cy="4629034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0" y="6191095"/>
            <a:ext cx="2381190" cy="666733"/>
          </a:xfrm>
          <a:prstGeom prst="roundRect">
            <a:avLst>
              <a:gd fmla="val 16667" name="adj"/>
            </a:avLst>
          </a:prstGeom>
          <a:solidFill>
            <a:srgbClr val="31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667333" y="6562560"/>
            <a:ext cx="3047923" cy="19049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9810504" y="6400639"/>
            <a:ext cx="2000199" cy="28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3A51A"/>
                </a:solidFill>
                <a:latin typeface="Arial"/>
                <a:ea typeface="Arial"/>
                <a:cs typeface="Arial"/>
                <a:sym typeface="Arial"/>
              </a:rPr>
              <a:t>cefor.ifes.edu.br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2762180" y="1047723"/>
            <a:ext cx="8667533" cy="1238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Sua vez: transforme uma nota em feedback acionável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2857428" y="2762180"/>
            <a:ext cx="8381790" cy="19049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3028874" y="2876478"/>
            <a:ext cx="8038899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Tarefa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3028874" y="3257468"/>
            <a:ext cx="8038899" cy="133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Pegue um '7,0' e reescreva usando as 3 perguntas. 5 min, em duplas.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380990" y="876278"/>
            <a:ext cx="11429714" cy="529576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80990" y="380990"/>
            <a:ext cx="2000199" cy="1047723"/>
          </a:xfrm>
          <a:prstGeom prst="roundRect">
            <a:avLst>
              <a:gd fmla="val 16667" name="adj"/>
            </a:avLst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371565" y="1428714"/>
            <a:ext cx="28574" cy="4629034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0" y="6191095"/>
            <a:ext cx="2381190" cy="666733"/>
          </a:xfrm>
          <a:prstGeom prst="roundRect">
            <a:avLst>
              <a:gd fmla="val 16667" name="adj"/>
            </a:avLst>
          </a:prstGeom>
          <a:solidFill>
            <a:srgbClr val="31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667333" y="6562560"/>
            <a:ext cx="3047923" cy="19049"/>
          </a:xfrm>
          <a:prstGeom prst="rect">
            <a:avLst/>
          </a:prstGeom>
          <a:solidFill>
            <a:srgbClr val="A3A5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9810504" y="6400639"/>
            <a:ext cx="2000199" cy="28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3A51A"/>
                </a:solidFill>
                <a:latin typeface="Arial"/>
                <a:ea typeface="Arial"/>
                <a:cs typeface="Arial"/>
                <a:sym typeface="Arial"/>
              </a:rPr>
              <a:t>cefor.ifes.edu.br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2762180" y="1047723"/>
            <a:ext cx="8667533" cy="1238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Avaliar para aprender é redirecionar o ensino enquanto há tempo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3895627" y="2762180"/>
            <a:ext cx="495287" cy="495287"/>
          </a:xfrm>
          <a:prstGeom prst="ellipse">
            <a:avLst/>
          </a:prstGeom>
          <a:solidFill>
            <a:srgbClr val="B0C8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857428" y="3428914"/>
            <a:ext cx="2571685" cy="114297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3028874" y="3543211"/>
            <a:ext cx="2228794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Durante o percurso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6800679" y="2762180"/>
            <a:ext cx="495287" cy="495287"/>
          </a:xfrm>
          <a:prstGeom prst="ellipse">
            <a:avLst/>
          </a:prstGeom>
          <a:solidFill>
            <a:srgbClr val="B0C8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762480" y="3428914"/>
            <a:ext cx="2571685" cy="114297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5933926" y="3543211"/>
            <a:ext cx="2228794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Acionável</a:t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9705732" y="2762180"/>
            <a:ext cx="495287" cy="495287"/>
          </a:xfrm>
          <a:prstGeom prst="ellipse">
            <a:avLst/>
          </a:prstGeom>
          <a:solidFill>
            <a:srgbClr val="B0C8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667533" y="3428914"/>
            <a:ext cx="2571685" cy="114297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8838979" y="3543211"/>
            <a:ext cx="2228794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14A99"/>
                </a:solidFill>
                <a:latin typeface="Arial"/>
                <a:ea typeface="Arial"/>
                <a:cs typeface="Arial"/>
                <a:sym typeface="Arial"/>
              </a:rPr>
              <a:t>Focado e a tempo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31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1333466" y="2857428"/>
            <a:ext cx="9524761" cy="761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Cefor — Formação docente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1333466" y="3714657"/>
            <a:ext cx="9524761" cy="4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C804"/>
                </a:solidFill>
                <a:latin typeface="Arial"/>
                <a:ea typeface="Arial"/>
                <a:cs typeface="Arial"/>
                <a:sym typeface="Arial"/>
              </a:rPr>
              <a:t>cefor.ifes.edu.br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