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Apresenta a sessão e o objetivo: sair daqui mediando, não apenas respondendo.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Provoca a experiência do tutor: a ausência de presença antecede a desistência.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Conteúdo disponível não é aprendizagem; a mediação é o que move o pensamento.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Abre o bloco de demonstração das três presenças.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Comunidade de Inquirição (Garrison, Anderson &amp; Archer, 2000).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mediação é um laço de diálogo, não uma resposta única.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Passa da teoria das presenças para a intervenção concreta.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pergunta devolve a investigação ao aluno; a afirmação a encerra.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Atividade de 5 min, em duplas; comparar as reescritas.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Retoma a ideia-chave: presença sentida vira permanência e aprendizagem.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Encerramento; logo IF/ES e canais.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gradFill rotWithShape="1">
            <a:gsLst>
              <a:gs pos="0">
                <a:srgbClr val="7FC24A"/>
              </a:gs>
              <a:gs pos="100000">
                <a:srgbClr val="3F93C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53476" y="666733"/>
            <a:ext cx="761980" cy="761980"/>
          </a:xfrm>
          <a:prstGeom prst="roundRect">
            <a:avLst/>
          </a:prstGeom>
          <a:noFill/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20009" y="1333466"/>
            <a:ext cx="400039" cy="400039"/>
          </a:xfrm>
          <a:prstGeom prst="roundRect">
            <a:avLst/>
          </a:prstGeom>
          <a:noFill/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91295" y="1904952"/>
            <a:ext cx="571485" cy="571485"/>
          </a:xfrm>
          <a:prstGeom prst="roundRect">
            <a:avLst/>
          </a:prstGeom>
          <a:noFill/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7228" y="914377"/>
            <a:ext cx="5714857" cy="2285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Open Sans"/>
              </a:rPr>
              <a:t>TÍTULO DA APRESENTAÇÃO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179" y="1333466"/>
            <a:ext cx="8762780" cy="20954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Open Sans"/>
              </a:rPr>
              <a:t>Mediação pedagógica: estar presente faz o aluno permanecer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28" y="3543211"/>
            <a:ext cx="8572285" cy="3809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Open Sans"/>
              </a:rPr>
              <a:t>Formação docente Cefor   ·   educação a distância</a:t>
            </a:r>
          </a:p>
        </p:txBody>
      </p:sp>
      <p:sp>
        <p:nvSpPr>
          <p:cNvPr id="9" name="Oval 8"/>
          <p:cNvSpPr/>
          <p:nvPr/>
        </p:nvSpPr>
        <p:spPr>
          <a:xfrm>
            <a:off x="857228" y="6057748"/>
            <a:ext cx="128584" cy="1285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7228" y="6214907"/>
            <a:ext cx="128584" cy="1285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57228" y="6372065"/>
            <a:ext cx="128584" cy="1285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7228" y="6529224"/>
            <a:ext cx="128584" cy="1285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14387" y="6057748"/>
            <a:ext cx="128584" cy="1285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14387" y="6214907"/>
            <a:ext cx="128584" cy="1285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14387" y="6372065"/>
            <a:ext cx="128584" cy="1285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14387" y="6529224"/>
            <a:ext cx="128584" cy="1285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71545" y="6057748"/>
            <a:ext cx="128584" cy="1285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171545" y="6372065"/>
            <a:ext cx="128584" cy="1285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3951" y="6019649"/>
            <a:ext cx="4000399" cy="2476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Open Sans"/>
              </a:rPr>
              <a:t>INSTITUTO FEDERAL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3951" y="6229194"/>
            <a:ext cx="4000399" cy="2095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Espírito Santo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3951" y="6400639"/>
            <a:ext cx="4000399" cy="3428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Open Sans"/>
              </a:rPr>
              <a:t>Centro de Referência em Formação e em Educação a Distância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285742" y="0"/>
            <a:ext cx="3714657" cy="6857828"/>
          </a:xfrm>
          <a:prstGeom prst="roundRect">
            <a:avLst/>
          </a:prstGeom>
          <a:solidFill>
            <a:srgbClr val="EA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evron 2"/>
          <p:cNvSpPr/>
          <p:nvPr/>
        </p:nvSpPr>
        <p:spPr>
          <a:xfrm rot="2700000">
            <a:off x="1047723" y="2381190"/>
            <a:ext cx="1428714" cy="1228694"/>
          </a:xfrm>
          <a:prstGeom prst="chevron">
            <a:avLst/>
          </a:prstGeom>
          <a:solidFill>
            <a:srgbClr val="2C4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34066" y="6562560"/>
            <a:ext cx="3047923" cy="19049"/>
          </a:xfrm>
          <a:prstGeom prst="rect">
            <a:avLst/>
          </a:prstGeom>
          <a:solidFill>
            <a:srgbClr val="8C9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67333" y="6400639"/>
            <a:ext cx="5143371" cy="2857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8C9A0D"/>
                </a:solidFill>
                <a:latin typeface="Open Sans"/>
              </a:rPr>
              <a:t>cefor.ifes.edu.br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05152" y="514337"/>
            <a:ext cx="7857928" cy="12382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C459A"/>
                </a:solidFill>
                <a:latin typeface="Open Sans"/>
              </a:rPr>
              <a:t>Na EaD, o silêncio do professor é lido como abandono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05152" y="1866853"/>
            <a:ext cx="914377" cy="57148"/>
          </a:xfrm>
          <a:prstGeom prst="roundRect">
            <a:avLst/>
          </a:prstGeom>
          <a:solidFill>
            <a:srgbClr val="B0C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095647" y="3428914"/>
            <a:ext cx="2381190" cy="1047723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D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095647" y="3428914"/>
            <a:ext cx="76198" cy="1047723"/>
          </a:xfrm>
          <a:prstGeom prst="roundRect">
            <a:avLst/>
          </a:prstGeom>
          <a:solidFill>
            <a:srgbClr val="B0C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86142" y="3543211"/>
            <a:ext cx="2000199" cy="4381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C459A"/>
                </a:solidFill>
                <a:latin typeface="Open Sans"/>
              </a:rPr>
              <a:t>Matrícula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553036" y="3828954"/>
            <a:ext cx="419089" cy="209544"/>
          </a:xfrm>
          <a:prstGeom prst="rightArrow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010224" y="3428914"/>
            <a:ext cx="2381190" cy="1047723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D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010224" y="3428914"/>
            <a:ext cx="76198" cy="1047723"/>
          </a:xfrm>
          <a:prstGeom prst="roundRect">
            <a:avLst/>
          </a:prstGeom>
          <a:solidFill>
            <a:srgbClr val="B0C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0719" y="3543211"/>
            <a:ext cx="2000199" cy="4381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C459A"/>
                </a:solidFill>
                <a:latin typeface="Open Sans"/>
              </a:rPr>
              <a:t>Semanas em silêncio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467613" y="3828954"/>
            <a:ext cx="419089" cy="209544"/>
          </a:xfrm>
          <a:prstGeom prst="rightArrow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924801" y="3428914"/>
            <a:ext cx="2381190" cy="1047723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CC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924801" y="3428914"/>
            <a:ext cx="76198" cy="1047723"/>
          </a:xfrm>
          <a:prstGeom prst="roundRect">
            <a:avLst/>
          </a:prstGeom>
          <a:solidFill>
            <a:srgbClr val="CC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15297" y="3543211"/>
            <a:ext cx="2000199" cy="4381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CC1111"/>
                </a:solidFill>
                <a:latin typeface="Open Sans"/>
              </a:rPr>
              <a:t>Evasão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285742" y="0"/>
            <a:ext cx="3714657" cy="6857828"/>
          </a:xfrm>
          <a:prstGeom prst="roundRect">
            <a:avLst/>
          </a:prstGeom>
          <a:solidFill>
            <a:srgbClr val="EA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evron 2"/>
          <p:cNvSpPr/>
          <p:nvPr/>
        </p:nvSpPr>
        <p:spPr>
          <a:xfrm rot="2700000">
            <a:off x="1047723" y="2381190"/>
            <a:ext cx="1428714" cy="1228694"/>
          </a:xfrm>
          <a:prstGeom prst="chevron">
            <a:avLst/>
          </a:prstGeom>
          <a:solidFill>
            <a:srgbClr val="2C4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34066" y="6562560"/>
            <a:ext cx="3047923" cy="19049"/>
          </a:xfrm>
          <a:prstGeom prst="rect">
            <a:avLst/>
          </a:prstGeom>
          <a:solidFill>
            <a:srgbClr val="8C9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67333" y="6400639"/>
            <a:ext cx="5143371" cy="2857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8C9A0D"/>
                </a:solidFill>
                <a:latin typeface="Open Sans"/>
              </a:rPr>
              <a:t>cefor.ifes.edu.br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05152" y="514337"/>
            <a:ext cx="7857928" cy="12382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C459A"/>
                </a:solidFill>
                <a:latin typeface="Open Sans"/>
              </a:rPr>
              <a:t>Transmitir conteúdo informa; mediar faz o aluno pensar junto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05152" y="1866853"/>
            <a:ext cx="914377" cy="57148"/>
          </a:xfrm>
          <a:prstGeom prst="roundRect">
            <a:avLst/>
          </a:prstGeom>
          <a:solidFill>
            <a:srgbClr val="B0C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095647" y="2381190"/>
            <a:ext cx="3619409" cy="2095447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D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095647" y="2381190"/>
            <a:ext cx="76198" cy="2095447"/>
          </a:xfrm>
          <a:prstGeom prst="roundRect">
            <a:avLst/>
          </a:prstGeom>
          <a:solidFill>
            <a:srgbClr val="B0C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86142" y="2495487"/>
            <a:ext cx="3238419" cy="4381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C459A"/>
                </a:solidFill>
                <a:latin typeface="Open Sans"/>
              </a:rPr>
              <a:t>Transmitir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86142" y="2876478"/>
            <a:ext cx="3238419" cy="152396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Open Sans"/>
              </a:rPr>
              <a:t>Entrega o conteúdo e espera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6047" y="2381190"/>
            <a:ext cx="3619409" cy="2095447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D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96047" y="2381190"/>
            <a:ext cx="76198" cy="2095447"/>
          </a:xfrm>
          <a:prstGeom prst="roundRect">
            <a:avLst/>
          </a:prstGeom>
          <a:solidFill>
            <a:srgbClr val="2E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6542" y="2495487"/>
            <a:ext cx="3238419" cy="4381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E9B30"/>
                </a:solidFill>
                <a:latin typeface="Open Sans"/>
              </a:rPr>
              <a:t>Mediar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6542" y="2876478"/>
            <a:ext cx="3238419" cy="152396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Open Sans"/>
              </a:rPr>
              <a:t>Provoca, escuta e acompanha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96007" y="3238419"/>
            <a:ext cx="438139" cy="4762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5A5A5A"/>
                </a:solidFill>
                <a:latin typeface="Open Sans"/>
              </a:rPr>
              <a:t>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43271" cy="6857828"/>
          </a:xfrm>
          <a:prstGeom prst="rect">
            <a:avLst/>
          </a:prstGeom>
          <a:gradFill rotWithShape="1">
            <a:gsLst>
              <a:gs pos="0">
                <a:srgbClr val="7FC24A"/>
              </a:gs>
              <a:gs pos="100000">
                <a:srgbClr val="3F93C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57588" y="1428714"/>
            <a:ext cx="2857428" cy="14287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0" b="1">
                <a:solidFill>
                  <a:srgbClr val="CFDDED"/>
                </a:solidFill>
                <a:latin typeface="Open San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57588" y="2857428"/>
            <a:ext cx="6857828" cy="14287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F3A52"/>
                </a:solidFill>
                <a:latin typeface="Open Sans"/>
              </a:rPr>
              <a:t>O que muda quando se media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76638" y="4095647"/>
            <a:ext cx="666733" cy="57148"/>
          </a:xfrm>
          <a:prstGeom prst="roundRect">
            <a:avLst/>
          </a:prstGeom>
          <a:solidFill>
            <a:srgbClr val="2E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219569" y="4095647"/>
            <a:ext cx="285742" cy="57148"/>
          </a:xfrm>
          <a:prstGeom prst="roundRect">
            <a:avLst/>
          </a:prstGeom>
          <a:solidFill>
            <a:srgbClr val="3F9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7333" y="6400639"/>
            <a:ext cx="5143371" cy="2857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8C9A0D"/>
                </a:solidFill>
                <a:latin typeface="Open Sans"/>
              </a:rPr>
              <a:t>cefor.ifes.edu.br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285742" y="0"/>
            <a:ext cx="3714657" cy="6857828"/>
          </a:xfrm>
          <a:prstGeom prst="roundRect">
            <a:avLst/>
          </a:prstGeom>
          <a:solidFill>
            <a:srgbClr val="EA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evron 2"/>
          <p:cNvSpPr/>
          <p:nvPr/>
        </p:nvSpPr>
        <p:spPr>
          <a:xfrm rot="2700000">
            <a:off x="1047723" y="2381190"/>
            <a:ext cx="1428714" cy="1228694"/>
          </a:xfrm>
          <a:prstGeom prst="chevron">
            <a:avLst/>
          </a:prstGeom>
          <a:solidFill>
            <a:srgbClr val="2C4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34066" y="6562560"/>
            <a:ext cx="3047923" cy="19049"/>
          </a:xfrm>
          <a:prstGeom prst="rect">
            <a:avLst/>
          </a:prstGeom>
          <a:solidFill>
            <a:srgbClr val="8C9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67333" y="6400639"/>
            <a:ext cx="5143371" cy="2857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8C9A0D"/>
                </a:solidFill>
                <a:latin typeface="Open Sans"/>
              </a:rPr>
              <a:t>cefor.ifes.edu.br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05152" y="514337"/>
            <a:ext cx="7857928" cy="12382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C459A"/>
                </a:solidFill>
                <a:latin typeface="Open Sans"/>
              </a:rPr>
              <a:t>A presença docente se faz em três frentes ao mesmo tempo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05152" y="1866853"/>
            <a:ext cx="914377" cy="57148"/>
          </a:xfrm>
          <a:prstGeom prst="roundRect">
            <a:avLst/>
          </a:prstGeom>
          <a:solidFill>
            <a:srgbClr val="B0C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095647" y="2381190"/>
            <a:ext cx="438139" cy="438139"/>
          </a:xfrm>
          <a:prstGeom prst="ellipse">
            <a:avLst/>
          </a:prstGeom>
          <a:solidFill>
            <a:srgbClr val="2C4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95647" y="2447863"/>
            <a:ext cx="438139" cy="3428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Open Sans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95647" y="2971725"/>
            <a:ext cx="2381190" cy="157158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D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095647" y="2971725"/>
            <a:ext cx="76198" cy="1571585"/>
          </a:xfrm>
          <a:prstGeom prst="roundRect">
            <a:avLst/>
          </a:prstGeom>
          <a:solidFill>
            <a:srgbClr val="B0C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86142" y="3086022"/>
            <a:ext cx="2000199" cy="4381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C459A"/>
                </a:solidFill>
                <a:latin typeface="Open Sans"/>
              </a:rPr>
              <a:t>Presença de ensino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6142" y="3467013"/>
            <a:ext cx="2000199" cy="10000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Open Sans"/>
              </a:rPr>
              <a:t>desenha o percurso e orienta</a:t>
            </a:r>
          </a:p>
        </p:txBody>
      </p:sp>
      <p:sp>
        <p:nvSpPr>
          <p:cNvPr id="14" name="Oval 13"/>
          <p:cNvSpPr/>
          <p:nvPr/>
        </p:nvSpPr>
        <p:spPr>
          <a:xfrm>
            <a:off x="6762580" y="2381190"/>
            <a:ext cx="438139" cy="438139"/>
          </a:xfrm>
          <a:prstGeom prst="ellipse">
            <a:avLst/>
          </a:prstGeom>
          <a:solidFill>
            <a:srgbClr val="2C4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2580" y="2447863"/>
            <a:ext cx="438139" cy="3428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Open Sans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2580" y="2971725"/>
            <a:ext cx="2381190" cy="157158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D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62580" y="2971725"/>
            <a:ext cx="76198" cy="1571585"/>
          </a:xfrm>
          <a:prstGeom prst="roundRect">
            <a:avLst/>
          </a:prstGeom>
          <a:solidFill>
            <a:srgbClr val="B0C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53076" y="3086022"/>
            <a:ext cx="2000199" cy="4381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C459A"/>
                </a:solidFill>
                <a:latin typeface="Open Sans"/>
              </a:rPr>
              <a:t>Presença social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3076" y="3467013"/>
            <a:ext cx="2000199" cy="10000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Open Sans"/>
              </a:rPr>
              <a:t>o aluno se sente entre pessoas reais</a:t>
            </a:r>
          </a:p>
        </p:txBody>
      </p:sp>
      <p:sp>
        <p:nvSpPr>
          <p:cNvPr id="20" name="Oval 19"/>
          <p:cNvSpPr/>
          <p:nvPr/>
        </p:nvSpPr>
        <p:spPr>
          <a:xfrm>
            <a:off x="9429514" y="2381190"/>
            <a:ext cx="438139" cy="438139"/>
          </a:xfrm>
          <a:prstGeom prst="ellipse">
            <a:avLst/>
          </a:prstGeom>
          <a:solidFill>
            <a:srgbClr val="2C4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29514" y="2447863"/>
            <a:ext cx="438139" cy="3428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Open Sans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29514" y="2971725"/>
            <a:ext cx="2381190" cy="157158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D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429514" y="2971725"/>
            <a:ext cx="76198" cy="1571585"/>
          </a:xfrm>
          <a:prstGeom prst="roundRect">
            <a:avLst/>
          </a:prstGeom>
          <a:solidFill>
            <a:srgbClr val="B0C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0009" y="3086022"/>
            <a:ext cx="2000199" cy="4381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C459A"/>
                </a:solidFill>
                <a:latin typeface="Open Sans"/>
              </a:rPr>
              <a:t>Presença cognitiva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20009" y="3467013"/>
            <a:ext cx="2000199" cy="10000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Open Sans"/>
              </a:rPr>
              <a:t>constrói significado: do problema à resolução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285742" y="0"/>
            <a:ext cx="3714657" cy="6857828"/>
          </a:xfrm>
          <a:prstGeom prst="roundRect">
            <a:avLst/>
          </a:prstGeom>
          <a:solidFill>
            <a:srgbClr val="EA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evron 2"/>
          <p:cNvSpPr/>
          <p:nvPr/>
        </p:nvSpPr>
        <p:spPr>
          <a:xfrm rot="2700000">
            <a:off x="1047723" y="2381190"/>
            <a:ext cx="1428714" cy="1228694"/>
          </a:xfrm>
          <a:prstGeom prst="chevron">
            <a:avLst/>
          </a:prstGeom>
          <a:solidFill>
            <a:srgbClr val="2C4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34066" y="6562560"/>
            <a:ext cx="3047923" cy="19049"/>
          </a:xfrm>
          <a:prstGeom prst="rect">
            <a:avLst/>
          </a:prstGeom>
          <a:solidFill>
            <a:srgbClr val="8C9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67333" y="6400639"/>
            <a:ext cx="5143371" cy="2857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8C9A0D"/>
                </a:solidFill>
                <a:latin typeface="Open Sans"/>
              </a:rPr>
              <a:t>cefor.ifes.edu.br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05152" y="514337"/>
            <a:ext cx="7857928" cy="12382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C459A"/>
                </a:solidFill>
                <a:latin typeface="Open Sans"/>
              </a:rPr>
              <a:t>Mediar é um ciclo: provocar, escutar, devolver, avançar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05152" y="1866853"/>
            <a:ext cx="914377" cy="57148"/>
          </a:xfrm>
          <a:prstGeom prst="roundRect">
            <a:avLst/>
          </a:prstGeom>
          <a:solidFill>
            <a:srgbClr val="B0C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095647" y="3619409"/>
            <a:ext cx="1695407" cy="87627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D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095647" y="3619409"/>
            <a:ext cx="76198" cy="876278"/>
          </a:xfrm>
          <a:prstGeom prst="roundRect">
            <a:avLst/>
          </a:prstGeom>
          <a:solidFill>
            <a:srgbClr val="B0C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86142" y="3733706"/>
            <a:ext cx="1314417" cy="4381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C459A"/>
                </a:solidFill>
                <a:latin typeface="Open Sans"/>
              </a:rPr>
              <a:t>Provocar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48203" y="3943251"/>
            <a:ext cx="190495" cy="209544"/>
          </a:xfrm>
          <a:prstGeom prst="rightArrow">
            <a:avLst/>
          </a:prstGeom>
          <a:solidFill>
            <a:srgbClr val="B0C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76798" y="3619409"/>
            <a:ext cx="1695407" cy="87627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D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76798" y="3619409"/>
            <a:ext cx="76198" cy="876278"/>
          </a:xfrm>
          <a:prstGeom prst="roundRect">
            <a:avLst/>
          </a:prstGeom>
          <a:solidFill>
            <a:srgbClr val="B0C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7293" y="3733706"/>
            <a:ext cx="1314417" cy="4381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C459A"/>
                </a:solidFill>
                <a:latin typeface="Open Sans"/>
              </a:rPr>
              <a:t>Escutar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829354" y="3943251"/>
            <a:ext cx="190495" cy="209544"/>
          </a:xfrm>
          <a:prstGeom prst="rightArrow">
            <a:avLst/>
          </a:prstGeom>
          <a:solidFill>
            <a:srgbClr val="B0C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57948" y="3619409"/>
            <a:ext cx="1695407" cy="87627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D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57948" y="3619409"/>
            <a:ext cx="76198" cy="876278"/>
          </a:xfrm>
          <a:prstGeom prst="roundRect">
            <a:avLst/>
          </a:prstGeom>
          <a:solidFill>
            <a:srgbClr val="B0C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8443" y="3733706"/>
            <a:ext cx="1314417" cy="4381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C459A"/>
                </a:solidFill>
                <a:latin typeface="Open Sans"/>
              </a:rPr>
              <a:t>Devolver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810504" y="3943251"/>
            <a:ext cx="190495" cy="209544"/>
          </a:xfrm>
          <a:prstGeom prst="rightArrow">
            <a:avLst/>
          </a:prstGeom>
          <a:solidFill>
            <a:srgbClr val="B0C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039099" y="3619409"/>
            <a:ext cx="1695407" cy="87627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D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039099" y="3619409"/>
            <a:ext cx="76198" cy="876278"/>
          </a:xfrm>
          <a:prstGeom prst="roundRect">
            <a:avLst/>
          </a:prstGeom>
          <a:solidFill>
            <a:srgbClr val="B0C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29594" y="3733706"/>
            <a:ext cx="1314417" cy="4381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C459A"/>
                </a:solidFill>
                <a:latin typeface="Open Sans"/>
              </a:rPr>
              <a:t>Avançar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43271" cy="6857828"/>
          </a:xfrm>
          <a:prstGeom prst="rect">
            <a:avLst/>
          </a:prstGeom>
          <a:gradFill rotWithShape="1">
            <a:gsLst>
              <a:gs pos="0">
                <a:srgbClr val="7FC24A"/>
              </a:gs>
              <a:gs pos="100000">
                <a:srgbClr val="3F93C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57588" y="1428714"/>
            <a:ext cx="2857428" cy="14287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0" b="1">
                <a:solidFill>
                  <a:srgbClr val="CFDDED"/>
                </a:solidFill>
                <a:latin typeface="Open San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57588" y="2857428"/>
            <a:ext cx="6857828" cy="14287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F3A52"/>
                </a:solidFill>
                <a:latin typeface="Open Sans"/>
              </a:rPr>
              <a:t>Mediar na prática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76638" y="4095647"/>
            <a:ext cx="666733" cy="57148"/>
          </a:xfrm>
          <a:prstGeom prst="roundRect">
            <a:avLst/>
          </a:prstGeom>
          <a:solidFill>
            <a:srgbClr val="2E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219569" y="4095647"/>
            <a:ext cx="285742" cy="57148"/>
          </a:xfrm>
          <a:prstGeom prst="roundRect">
            <a:avLst/>
          </a:prstGeom>
          <a:solidFill>
            <a:srgbClr val="3F9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7333" y="6400639"/>
            <a:ext cx="5143371" cy="2857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8C9A0D"/>
                </a:solidFill>
                <a:latin typeface="Open Sans"/>
              </a:rPr>
              <a:t>cefor.ifes.edu.br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285742" y="0"/>
            <a:ext cx="3714657" cy="6857828"/>
          </a:xfrm>
          <a:prstGeom prst="roundRect">
            <a:avLst/>
          </a:prstGeom>
          <a:solidFill>
            <a:srgbClr val="EA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evron 2"/>
          <p:cNvSpPr/>
          <p:nvPr/>
        </p:nvSpPr>
        <p:spPr>
          <a:xfrm rot="2700000">
            <a:off x="1047723" y="2381190"/>
            <a:ext cx="1428714" cy="1228694"/>
          </a:xfrm>
          <a:prstGeom prst="chevron">
            <a:avLst/>
          </a:prstGeom>
          <a:solidFill>
            <a:srgbClr val="2C4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34066" y="6562560"/>
            <a:ext cx="3047923" cy="19049"/>
          </a:xfrm>
          <a:prstGeom prst="rect">
            <a:avLst/>
          </a:prstGeom>
          <a:solidFill>
            <a:srgbClr val="8C9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67333" y="6400639"/>
            <a:ext cx="5143371" cy="2857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8C9A0D"/>
                </a:solidFill>
                <a:latin typeface="Open Sans"/>
              </a:rPr>
              <a:t>cefor.ifes.edu.br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05152" y="514337"/>
            <a:ext cx="7857928" cy="12382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C459A"/>
                </a:solidFill>
                <a:latin typeface="Open Sans"/>
              </a:rPr>
              <a:t>Responder encerra a conversa; perguntar mantém o aluno pensando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05152" y="1866853"/>
            <a:ext cx="914377" cy="57148"/>
          </a:xfrm>
          <a:prstGeom prst="roundRect">
            <a:avLst/>
          </a:prstGeom>
          <a:solidFill>
            <a:srgbClr val="B0C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095647" y="2381190"/>
            <a:ext cx="3619409" cy="2095447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D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095647" y="2381190"/>
            <a:ext cx="76198" cy="2095447"/>
          </a:xfrm>
          <a:prstGeom prst="roundRect">
            <a:avLst/>
          </a:prstGeom>
          <a:solidFill>
            <a:srgbClr val="B0C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86142" y="2495487"/>
            <a:ext cx="3238419" cy="4381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C459A"/>
                </a:solidFill>
                <a:latin typeface="Open Sans"/>
              </a:rPr>
              <a:t>Responder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86142" y="2876478"/>
            <a:ext cx="3238419" cy="152396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Open Sans"/>
              </a:rPr>
              <a:t>“Está correto.” — encerra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6047" y="2381190"/>
            <a:ext cx="3619409" cy="2095447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D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96047" y="2381190"/>
            <a:ext cx="76198" cy="2095447"/>
          </a:xfrm>
          <a:prstGeom prst="roundRect">
            <a:avLst/>
          </a:prstGeom>
          <a:solidFill>
            <a:srgbClr val="2E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6542" y="2495487"/>
            <a:ext cx="3238419" cy="4381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E9B30"/>
                </a:solidFill>
                <a:latin typeface="Open Sans"/>
              </a:rPr>
              <a:t>Perguntar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6542" y="2876478"/>
            <a:ext cx="3238419" cy="152396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Open Sans"/>
              </a:rPr>
              <a:t>“O que mudaria se...?” — reabre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96007" y="3238419"/>
            <a:ext cx="438139" cy="4762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5A5A5A"/>
                </a:solidFill>
                <a:latin typeface="Open Sans"/>
              </a:rPr>
              <a:t>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285742" y="0"/>
            <a:ext cx="3714657" cy="6857828"/>
          </a:xfrm>
          <a:prstGeom prst="roundRect">
            <a:avLst/>
          </a:prstGeom>
          <a:solidFill>
            <a:srgbClr val="EA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evron 2"/>
          <p:cNvSpPr/>
          <p:nvPr/>
        </p:nvSpPr>
        <p:spPr>
          <a:xfrm rot="2700000">
            <a:off x="1047723" y="2381190"/>
            <a:ext cx="1428714" cy="1228694"/>
          </a:xfrm>
          <a:prstGeom prst="chevron">
            <a:avLst/>
          </a:prstGeom>
          <a:solidFill>
            <a:srgbClr val="2C4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34066" y="6562560"/>
            <a:ext cx="3047923" cy="19049"/>
          </a:xfrm>
          <a:prstGeom prst="rect">
            <a:avLst/>
          </a:prstGeom>
          <a:solidFill>
            <a:srgbClr val="8C9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67333" y="6400639"/>
            <a:ext cx="5143371" cy="2857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8C9A0D"/>
                </a:solidFill>
                <a:latin typeface="Open Sans"/>
              </a:rPr>
              <a:t>cefor.ifes.edu.br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05152" y="514337"/>
            <a:ext cx="7857928" cy="12382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C459A"/>
                </a:solidFill>
                <a:latin typeface="Open Sans"/>
              </a:rPr>
              <a:t>Sua vez: transforme um “continue assim” em mediação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05152" y="1866853"/>
            <a:ext cx="914377" cy="57148"/>
          </a:xfrm>
          <a:prstGeom prst="roundRect">
            <a:avLst/>
          </a:prstGeom>
          <a:solidFill>
            <a:srgbClr val="B0C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095647" y="2381190"/>
            <a:ext cx="7619809" cy="1904952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CC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095647" y="2381190"/>
            <a:ext cx="76198" cy="1904952"/>
          </a:xfrm>
          <a:prstGeom prst="roundRect">
            <a:avLst/>
          </a:prstGeom>
          <a:solidFill>
            <a:srgbClr val="CC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86142" y="2495487"/>
            <a:ext cx="7238819" cy="4381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CC1111"/>
                </a:solidFill>
                <a:latin typeface="Open Sans"/>
              </a:rPr>
              <a:t>Tarefa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86142" y="2876478"/>
            <a:ext cx="7238819" cy="13334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Open Sans"/>
              </a:rPr>
              <a:t>Pegue um “parabéns, continue assim” e reescreva com uma pergunta que faça o aluno avançar. 5 min, em duplas.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285742" y="0"/>
            <a:ext cx="3714657" cy="6857828"/>
          </a:xfrm>
          <a:prstGeom prst="roundRect">
            <a:avLst/>
          </a:prstGeom>
          <a:solidFill>
            <a:srgbClr val="EA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evron 2"/>
          <p:cNvSpPr/>
          <p:nvPr/>
        </p:nvSpPr>
        <p:spPr>
          <a:xfrm rot="2700000">
            <a:off x="1047723" y="2381190"/>
            <a:ext cx="1428714" cy="1228694"/>
          </a:xfrm>
          <a:prstGeom prst="chevron">
            <a:avLst/>
          </a:prstGeom>
          <a:solidFill>
            <a:srgbClr val="2C4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34066" y="6562560"/>
            <a:ext cx="3047923" cy="19049"/>
          </a:xfrm>
          <a:prstGeom prst="rect">
            <a:avLst/>
          </a:prstGeom>
          <a:solidFill>
            <a:srgbClr val="8C9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67333" y="6400639"/>
            <a:ext cx="5143371" cy="2857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8C9A0D"/>
                </a:solidFill>
                <a:latin typeface="Open Sans"/>
              </a:rPr>
              <a:t>cefor.ifes.edu.br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05152" y="514337"/>
            <a:ext cx="7857928" cy="12382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C459A"/>
                </a:solidFill>
                <a:latin typeface="Open Sans"/>
              </a:rPr>
              <a:t>Mediar é transformar presença docente em aprendizagem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05152" y="1866853"/>
            <a:ext cx="914377" cy="57148"/>
          </a:xfrm>
          <a:prstGeom prst="roundRect">
            <a:avLst/>
          </a:prstGeom>
          <a:solidFill>
            <a:srgbClr val="B0C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029074" y="2381190"/>
            <a:ext cx="514337" cy="514337"/>
          </a:xfrm>
          <a:prstGeom prst="ellipse">
            <a:avLst/>
          </a:prstGeom>
          <a:solidFill>
            <a:srgbClr val="B0C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095647" y="3086022"/>
            <a:ext cx="2381190" cy="1142971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D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095647" y="3086022"/>
            <a:ext cx="76198" cy="1142971"/>
          </a:xfrm>
          <a:prstGeom prst="roundRect">
            <a:avLst/>
          </a:prstGeom>
          <a:solidFill>
            <a:srgbClr val="B0C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86142" y="3200319"/>
            <a:ext cx="2000199" cy="4381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C459A"/>
                </a:solidFill>
                <a:latin typeface="Open Sans"/>
              </a:rPr>
              <a:t>Presente</a:t>
            </a:r>
          </a:p>
        </p:txBody>
      </p:sp>
      <p:sp>
        <p:nvSpPr>
          <p:cNvPr id="12" name="Oval 11"/>
          <p:cNvSpPr/>
          <p:nvPr/>
        </p:nvSpPr>
        <p:spPr>
          <a:xfrm>
            <a:off x="7696007" y="2381190"/>
            <a:ext cx="514337" cy="514337"/>
          </a:xfrm>
          <a:prstGeom prst="ellipse">
            <a:avLst/>
          </a:prstGeom>
          <a:solidFill>
            <a:srgbClr val="B0C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62580" y="3086022"/>
            <a:ext cx="2381190" cy="1142971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D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762580" y="3086022"/>
            <a:ext cx="76198" cy="1142971"/>
          </a:xfrm>
          <a:prstGeom prst="roundRect">
            <a:avLst/>
          </a:prstGeom>
          <a:solidFill>
            <a:srgbClr val="B0C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53076" y="3200319"/>
            <a:ext cx="2000199" cy="4381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C459A"/>
                </a:solidFill>
                <a:latin typeface="Open Sans"/>
              </a:rPr>
              <a:t>Dialógica</a:t>
            </a:r>
          </a:p>
        </p:txBody>
      </p:sp>
      <p:sp>
        <p:nvSpPr>
          <p:cNvPr id="16" name="Oval 15"/>
          <p:cNvSpPr/>
          <p:nvPr/>
        </p:nvSpPr>
        <p:spPr>
          <a:xfrm>
            <a:off x="10362940" y="2381190"/>
            <a:ext cx="514337" cy="514337"/>
          </a:xfrm>
          <a:prstGeom prst="ellipse">
            <a:avLst/>
          </a:prstGeom>
          <a:solidFill>
            <a:srgbClr val="B0C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429514" y="3086022"/>
            <a:ext cx="2381190" cy="1142971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D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429514" y="3086022"/>
            <a:ext cx="76198" cy="1142971"/>
          </a:xfrm>
          <a:prstGeom prst="roundRect">
            <a:avLst/>
          </a:prstGeom>
          <a:solidFill>
            <a:srgbClr val="B0C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20009" y="3200319"/>
            <a:ext cx="2000199" cy="4381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C459A"/>
                </a:solidFill>
                <a:latin typeface="Open Sans"/>
              </a:rPr>
              <a:t>Faz avançar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43271" cy="6857828"/>
          </a:xfrm>
          <a:prstGeom prst="rect">
            <a:avLst/>
          </a:prstGeom>
          <a:gradFill rotWithShape="1">
            <a:gsLst>
              <a:gs pos="0">
                <a:srgbClr val="7FC24A"/>
              </a:gs>
              <a:gs pos="100000">
                <a:srgbClr val="3F93C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43331" y="1428714"/>
            <a:ext cx="5714857" cy="8572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1F3A52"/>
                </a:solidFill>
                <a:latin typeface="Open Sans"/>
              </a:rPr>
              <a:t>Obrigado!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62380" y="2381190"/>
            <a:ext cx="2095447" cy="57148"/>
          </a:xfrm>
          <a:prstGeom prst="roundRect">
            <a:avLst/>
          </a:prstGeom>
          <a:solidFill>
            <a:srgbClr val="2C4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62380" y="3066973"/>
            <a:ext cx="120011" cy="120011"/>
          </a:xfrm>
          <a:prstGeom prst="ellipse">
            <a:avLst/>
          </a:prstGeom>
          <a:solidFill>
            <a:srgbClr val="CC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62380" y="3213654"/>
            <a:ext cx="120011" cy="120011"/>
          </a:xfrm>
          <a:prstGeom prst="roundRect">
            <a:avLst/>
          </a:prstGeom>
          <a:solidFill>
            <a:srgbClr val="2E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62380" y="3360335"/>
            <a:ext cx="120011" cy="120011"/>
          </a:xfrm>
          <a:prstGeom prst="roundRect">
            <a:avLst/>
          </a:prstGeom>
          <a:solidFill>
            <a:srgbClr val="2E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62380" y="3507017"/>
            <a:ext cx="120011" cy="120011"/>
          </a:xfrm>
          <a:prstGeom prst="roundRect">
            <a:avLst/>
          </a:prstGeom>
          <a:solidFill>
            <a:srgbClr val="2E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909062" y="3066973"/>
            <a:ext cx="120011" cy="120011"/>
          </a:xfrm>
          <a:prstGeom prst="roundRect">
            <a:avLst/>
          </a:prstGeom>
          <a:solidFill>
            <a:srgbClr val="2E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09062" y="3213654"/>
            <a:ext cx="120011" cy="120011"/>
          </a:xfrm>
          <a:prstGeom prst="roundRect">
            <a:avLst/>
          </a:prstGeom>
          <a:solidFill>
            <a:srgbClr val="2E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09062" y="3360335"/>
            <a:ext cx="120011" cy="120011"/>
          </a:xfrm>
          <a:prstGeom prst="roundRect">
            <a:avLst/>
          </a:prstGeom>
          <a:solidFill>
            <a:srgbClr val="2E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9062" y="3507017"/>
            <a:ext cx="120011" cy="120011"/>
          </a:xfrm>
          <a:prstGeom prst="roundRect">
            <a:avLst/>
          </a:prstGeom>
          <a:solidFill>
            <a:srgbClr val="2E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55743" y="3066973"/>
            <a:ext cx="120011" cy="120011"/>
          </a:xfrm>
          <a:prstGeom prst="roundRect">
            <a:avLst/>
          </a:prstGeom>
          <a:solidFill>
            <a:srgbClr val="2E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55743" y="3360335"/>
            <a:ext cx="120011" cy="120011"/>
          </a:xfrm>
          <a:prstGeom prst="roundRect">
            <a:avLst/>
          </a:prstGeom>
          <a:solidFill>
            <a:srgbClr val="2E9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99577" y="3028874"/>
            <a:ext cx="4000399" cy="2476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B2B2B"/>
                </a:solidFill>
                <a:latin typeface="Open Sans"/>
              </a:rPr>
              <a:t>INSTITUTO FEDERAL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99577" y="3238419"/>
            <a:ext cx="4000399" cy="2095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B2B2B"/>
                </a:solidFill>
                <a:latin typeface="Open Sans"/>
              </a:rPr>
              <a:t>Espírito Santo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99577" y="3409864"/>
            <a:ext cx="4000399" cy="3428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Open Sans"/>
              </a:rPr>
              <a:t>Centro de Referência em Formação e em Educação a Distância</a:t>
            </a:r>
          </a:p>
        </p:txBody>
      </p:sp>
      <p:sp>
        <p:nvSpPr>
          <p:cNvPr id="18" name="Oval 17"/>
          <p:cNvSpPr/>
          <p:nvPr/>
        </p:nvSpPr>
        <p:spPr>
          <a:xfrm>
            <a:off x="4762380" y="4095647"/>
            <a:ext cx="323841" cy="323841"/>
          </a:xfrm>
          <a:prstGeom prst="ellipse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81470" y="4095647"/>
            <a:ext cx="323841" cy="323841"/>
          </a:xfrm>
          <a:prstGeom prst="ellipse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00559" y="4095647"/>
            <a:ext cx="323841" cy="323841"/>
          </a:xfrm>
          <a:prstGeom prst="ellipse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67333" y="6400639"/>
            <a:ext cx="5143371" cy="2857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8C9A0D"/>
                </a:solidFill>
                <a:latin typeface="Open Sans"/>
              </a:rPr>
              <a:t>cefor.ifes.edu.br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